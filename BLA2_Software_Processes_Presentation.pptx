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7365D"/>
          </a:solidFill>
          <a:ln w="12700">
            <a:solidFill>
              <a:srgbClr val="17365D"/>
            </a:solidFill>
            <a:prstDash val="solid"/>
          </a:ln>
        </p:spPr>
      </p:sp>
      <p:sp>
        <p:nvSpPr>
          <p:cNvPr id="3" name="Shape 1"/>
          <p:cNvSpPr/>
          <p:nvPr/>
        </p:nvSpPr>
        <p:spPr>
          <a:xfrm>
            <a:off x="640080" y="960120"/>
            <a:ext cx="109728" cy="4389120"/>
          </a:xfrm>
          <a:prstGeom prst="rect">
            <a:avLst/>
          </a:prstGeom>
          <a:solidFill>
            <a:srgbClr val="5B9BD5"/>
          </a:solidFill>
          <a:ln w="12700">
            <a:solidFill>
              <a:srgbClr val="5B9BD5"/>
            </a:solidFill>
            <a:prstDash val="solid"/>
          </a:ln>
        </p:spPr>
      </p:sp>
      <p:sp>
        <p:nvSpPr>
          <p:cNvPr id="4" name="Text 2"/>
          <p:cNvSpPr/>
          <p:nvPr/>
        </p:nvSpPr>
        <p:spPr>
          <a:xfrm>
            <a:off x="1051560" y="1325880"/>
            <a:ext cx="9875520" cy="1097280"/>
          </a:xfrm>
          <a:prstGeom prst="rect">
            <a:avLst/>
          </a:prstGeom>
          <a:noFill/>
          <a:ln/>
        </p:spPr>
        <p:txBody>
          <a:bodyPr wrap="square" lIns="0" tIns="0" rIns="0" bIns="0" rtlCol="0" anchor="ctr"/>
          <a:lstStyle/>
          <a:p>
            <a:pPr indent="0" marL="0">
              <a:buNone/>
            </a:pPr>
            <a:r>
              <a:rPr lang="en-US" sz="3400" b="1" dirty="0">
                <a:solidFill>
                  <a:srgbClr val="FFFFFF"/>
                </a:solidFill>
              </a:rPr>
              <a:t>Software Processes in Action</a:t>
            </a:r>
            <a:endParaRPr lang="en-US" sz="3400" dirty="0"/>
          </a:p>
        </p:txBody>
      </p:sp>
      <p:sp>
        <p:nvSpPr>
          <p:cNvPr id="5" name="Text 3"/>
          <p:cNvSpPr/>
          <p:nvPr/>
        </p:nvSpPr>
        <p:spPr>
          <a:xfrm>
            <a:off x="1078992" y="2834640"/>
            <a:ext cx="8869680" cy="1463040"/>
          </a:xfrm>
          <a:prstGeom prst="rect">
            <a:avLst/>
          </a:prstGeom>
          <a:noFill/>
          <a:ln/>
        </p:spPr>
        <p:txBody>
          <a:bodyPr wrap="square" lIns="0" tIns="0" rIns="0" bIns="0" rtlCol="0" anchor="ctr"/>
          <a:lstStyle/>
          <a:p>
            <a:pPr indent="0" marL="0">
              <a:buNone/>
            </a:pPr>
            <a:r>
              <a:rPr lang="en-US" sz="1800" dirty="0">
                <a:solidFill>
                  <a:srgbClr val="D9EAF7"/>
                </a:solidFill>
              </a:rPr>
              <a:t>BLA 2: Waterfall, Incremental Development, and Real-World Applications</a:t>
            </a:r>
            <a:endParaRPr lang="en-US" sz="1800" dirty="0"/>
          </a:p>
          <a:p>
            <a:pPr indent="0" marL="0">
              <a:buNone/>
            </a:pPr>
            <a:r>
              <a:rPr lang="en-US" sz="1800" dirty="0">
                <a:solidFill>
                  <a:srgbClr val="D9EAF7"/>
                </a:solidFill>
              </a:rPr>
              <a:t>Software Engineering I | Dr. Victor Govindaswamy</a:t>
            </a:r>
            <a:endParaRPr lang="en-US" sz="1800" dirty="0"/>
          </a:p>
          <a:p>
            <a:pPr indent="0" marL="0">
              <a:buNone/>
            </a:pPr>
            <a:r>
              <a:rPr lang="en-US" sz="1800" dirty="0">
                <a:solidFill>
                  <a:srgbClr val="D9EAF7"/>
                </a:solidFill>
              </a:rPr>
              <a:t>[Your Name] | Fall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What Is a Software Process?</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2</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sp>
        <p:nvSpPr>
          <p:cNvPr id="6" name="Text 4"/>
          <p:cNvSpPr/>
          <p:nvPr/>
        </p:nvSpPr>
        <p:spPr>
          <a:xfrm>
            <a:off x="777240" y="1024128"/>
            <a:ext cx="10652760" cy="5074920"/>
          </a:xfrm>
          <a:prstGeom prst="rect">
            <a:avLst/>
          </a:prstGeom>
          <a:noFill/>
          <a:ln/>
        </p:spPr>
        <p:txBody>
          <a:bodyPr wrap="square" lIns="1016" tIns="1016" rIns="1016" bIns="1016" rtlCol="0" anchor="ctr">
            <a:normAutofit/>
          </a:bodyPr>
          <a:lstStyle/>
          <a:p>
            <a:pPr indent="0" marL="0">
              <a:buNone/>
            </a:pPr>
            <a:r>
              <a:rPr lang="en-US" sz="1900" dirty="0">
                <a:solidFill>
                  <a:srgbClr val="1F1F1F"/>
                </a:solidFill>
              </a:rPr>
              <a:t>A software process is a structured set of activities used to develop and maintain a software system.</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Four fundamental activities:</a:t>
            </a:r>
            <a:endParaRPr lang="en-US" sz="1900" dirty="0"/>
          </a:p>
          <a:p>
            <a:pPr marL="203200" indent="-203200">
              <a:buSzPct val="100000"/>
              <a:buChar char="•"/>
            </a:pPr>
            <a:r>
              <a:rPr lang="en-US" sz="1900" dirty="0">
                <a:solidFill>
                  <a:srgbClr val="1F1F1F"/>
                </a:solidFill>
              </a:rPr>
              <a:t>• Specification: decide what the system should do</a:t>
            </a:r>
            <a:endParaRPr lang="en-US" sz="1900" dirty="0"/>
          </a:p>
          <a:p>
            <a:pPr marL="203200" indent="-203200">
              <a:buSzPct val="100000"/>
              <a:buChar char="•"/>
            </a:pPr>
            <a:r>
              <a:rPr lang="en-US" sz="1900" dirty="0">
                <a:solidFill>
                  <a:srgbClr val="1F1F1F"/>
                </a:solidFill>
              </a:rPr>
              <a:t>• Design and implementation: organize and build the system</a:t>
            </a:r>
            <a:endParaRPr lang="en-US" sz="1900" dirty="0"/>
          </a:p>
          <a:p>
            <a:pPr marL="203200" indent="-203200">
              <a:buSzPct val="100000"/>
              <a:buChar char="•"/>
            </a:pPr>
            <a:r>
              <a:rPr lang="en-US" sz="1900" dirty="0">
                <a:solidFill>
                  <a:srgbClr val="1F1F1F"/>
                </a:solidFill>
              </a:rPr>
              <a:t>• Validation: check whether the system meets user needs</a:t>
            </a:r>
            <a:endParaRPr lang="en-US" sz="1900" dirty="0"/>
          </a:p>
          <a:p>
            <a:pPr marL="203200" indent="-203200">
              <a:buSzPct val="100000"/>
              <a:buChar char="•"/>
            </a:pPr>
            <a:r>
              <a:rPr lang="en-US" sz="1900" dirty="0">
                <a:solidFill>
                  <a:srgbClr val="1F1F1F"/>
                </a:solidFill>
              </a:rPr>
              <a:t>• Evolution: change the system after delivery</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Example: a campus scheduling app moves from requirements, to interface/database design and coding, to testing, then to updates based on student feedback.</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Why Use an Organized Process?</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3</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sp>
        <p:nvSpPr>
          <p:cNvPr id="6" name="Text 4"/>
          <p:cNvSpPr/>
          <p:nvPr/>
        </p:nvSpPr>
        <p:spPr>
          <a:xfrm>
            <a:off x="777240" y="1024128"/>
            <a:ext cx="10652760" cy="5074920"/>
          </a:xfrm>
          <a:prstGeom prst="rect">
            <a:avLst/>
          </a:prstGeom>
          <a:noFill/>
          <a:ln/>
        </p:spPr>
        <p:txBody>
          <a:bodyPr wrap="square" lIns="1016" tIns="1016" rIns="1016" bIns="1016" rtlCol="0" anchor="ctr">
            <a:normAutofit/>
          </a:bodyPr>
          <a:lstStyle/>
          <a:p>
            <a:pPr indent="0" marL="0">
              <a:buNone/>
            </a:pPr>
            <a:r>
              <a:rPr lang="en-US" sz="1900" dirty="0">
                <a:solidFill>
                  <a:srgbClr val="1F1F1F"/>
                </a:solidFill>
              </a:rPr>
              <a:t>Programming is only one part of software engineering. A process coordinates people, requirements, design choices, testing, releases, documentation, and future changes.</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A process model gives a simplified view of how those activities are organized. Real projects often combine approaches instead of following one model exactly.</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Major Software Process Approaches</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4</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sp>
        <p:nvSpPr>
          <p:cNvPr id="6" name="Text 4"/>
          <p:cNvSpPr/>
          <p:nvPr/>
        </p:nvSpPr>
        <p:spPr>
          <a:xfrm>
            <a:off x="777240" y="1024128"/>
            <a:ext cx="10652760" cy="5074920"/>
          </a:xfrm>
          <a:prstGeom prst="rect">
            <a:avLst/>
          </a:prstGeom>
          <a:noFill/>
          <a:ln/>
        </p:spPr>
        <p:txBody>
          <a:bodyPr wrap="square" lIns="1016" tIns="1016" rIns="1016" bIns="1016" rtlCol="0" anchor="ctr">
            <a:normAutofit/>
          </a:bodyPr>
          <a:lstStyle/>
          <a:p>
            <a:pPr indent="0" marL="0">
              <a:buNone/>
            </a:pPr>
            <a:r>
              <a:rPr lang="en-US" sz="1900" dirty="0">
                <a:solidFill>
                  <a:srgbClr val="1F1F1F"/>
                </a:solidFill>
              </a:rPr>
              <a:t>Waterfall: distinct phases, planned in advance.</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Incremental development: specification, development, and validation overlap, with software delivered in pieces.</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Integration and configuration: build by finding, adapting, configuring, and integrating existing components or services.</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Plan-driven: activities and progress are planned in detail before work proceeds.</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Agile: planning happens in smaller cycles and responds to changing requirements.</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Waterfall Model</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5</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sp>
        <p:nvSpPr>
          <p:cNvPr id="6" name="Shape 4"/>
          <p:cNvSpPr/>
          <p:nvPr/>
        </p:nvSpPr>
        <p:spPr>
          <a:xfrm>
            <a:off x="502920" y="2057400"/>
            <a:ext cx="2136038" cy="621792"/>
          </a:xfrm>
          <a:prstGeom prst="roundRect">
            <a:avLst>
              <a:gd name="adj" fmla="val 8824"/>
            </a:avLst>
          </a:prstGeom>
          <a:solidFill>
            <a:srgbClr val="D9EAF7"/>
          </a:solidFill>
          <a:ln w="12700">
            <a:solidFill>
              <a:srgbClr val="2F75B5"/>
            </a:solidFill>
            <a:prstDash val="solid"/>
          </a:ln>
        </p:spPr>
      </p:sp>
      <p:sp>
        <p:nvSpPr>
          <p:cNvPr id="7" name="Text 5"/>
          <p:cNvSpPr/>
          <p:nvPr/>
        </p:nvSpPr>
        <p:spPr>
          <a:xfrm>
            <a:off x="557784" y="2167128"/>
            <a:ext cx="2026310" cy="365760"/>
          </a:xfrm>
          <a:prstGeom prst="rect">
            <a:avLst/>
          </a:prstGeom>
          <a:noFill/>
          <a:ln/>
        </p:spPr>
        <p:txBody>
          <a:bodyPr wrap="square" lIns="0" tIns="0" rIns="0" bIns="0" rtlCol="0" anchor="ctr"/>
          <a:lstStyle/>
          <a:p>
            <a:pPr algn="ctr" indent="0" marL="0">
              <a:buNone/>
            </a:pPr>
            <a:r>
              <a:rPr lang="en-US" sz="1200" b="1" dirty="0">
                <a:solidFill>
                  <a:srgbClr val="1F1F1F"/>
                </a:solidFill>
              </a:rPr>
              <a:t>Requirements</a:t>
            </a:r>
            <a:endParaRPr lang="en-US" sz="1200" dirty="0"/>
          </a:p>
        </p:txBody>
      </p:sp>
      <p:sp>
        <p:nvSpPr>
          <p:cNvPr id="8" name="Text 6"/>
          <p:cNvSpPr/>
          <p:nvPr/>
        </p:nvSpPr>
        <p:spPr>
          <a:xfrm>
            <a:off x="2638958" y="222199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9" name="Shape 7"/>
          <p:cNvSpPr/>
          <p:nvPr/>
        </p:nvSpPr>
        <p:spPr>
          <a:xfrm>
            <a:off x="2757830" y="2057400"/>
            <a:ext cx="2136038" cy="621792"/>
          </a:xfrm>
          <a:prstGeom prst="roundRect">
            <a:avLst>
              <a:gd name="adj" fmla="val 8824"/>
            </a:avLst>
          </a:prstGeom>
          <a:solidFill>
            <a:srgbClr val="EAF2F8"/>
          </a:solidFill>
          <a:ln w="12700">
            <a:solidFill>
              <a:srgbClr val="2F75B5"/>
            </a:solidFill>
            <a:prstDash val="solid"/>
          </a:ln>
        </p:spPr>
      </p:sp>
      <p:sp>
        <p:nvSpPr>
          <p:cNvPr id="10" name="Text 8"/>
          <p:cNvSpPr/>
          <p:nvPr/>
        </p:nvSpPr>
        <p:spPr>
          <a:xfrm>
            <a:off x="2812694" y="2167128"/>
            <a:ext cx="2026310" cy="365760"/>
          </a:xfrm>
          <a:prstGeom prst="rect">
            <a:avLst/>
          </a:prstGeom>
          <a:noFill/>
          <a:ln/>
        </p:spPr>
        <p:txBody>
          <a:bodyPr wrap="square" lIns="0" tIns="0" rIns="0" bIns="0" rtlCol="0" anchor="ctr"/>
          <a:lstStyle/>
          <a:p>
            <a:pPr algn="ctr" indent="0" marL="0">
              <a:buNone/>
            </a:pPr>
            <a:r>
              <a:rPr lang="en-US" sz="1200" b="1" dirty="0">
                <a:solidFill>
                  <a:srgbClr val="1F1F1F"/>
                </a:solidFill>
              </a:rPr>
              <a:t>Design</a:t>
            </a:r>
            <a:endParaRPr lang="en-US" sz="1200" dirty="0"/>
          </a:p>
        </p:txBody>
      </p:sp>
      <p:sp>
        <p:nvSpPr>
          <p:cNvPr id="11" name="Text 9"/>
          <p:cNvSpPr/>
          <p:nvPr/>
        </p:nvSpPr>
        <p:spPr>
          <a:xfrm>
            <a:off x="4893869" y="222199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12" name="Shape 10"/>
          <p:cNvSpPr/>
          <p:nvPr/>
        </p:nvSpPr>
        <p:spPr>
          <a:xfrm>
            <a:off x="5012741" y="2057400"/>
            <a:ext cx="2136038" cy="621792"/>
          </a:xfrm>
          <a:prstGeom prst="roundRect">
            <a:avLst>
              <a:gd name="adj" fmla="val 8824"/>
            </a:avLst>
          </a:prstGeom>
          <a:solidFill>
            <a:srgbClr val="D9EAF7"/>
          </a:solidFill>
          <a:ln w="12700">
            <a:solidFill>
              <a:srgbClr val="2F75B5"/>
            </a:solidFill>
            <a:prstDash val="solid"/>
          </a:ln>
        </p:spPr>
      </p:sp>
      <p:sp>
        <p:nvSpPr>
          <p:cNvPr id="13" name="Text 11"/>
          <p:cNvSpPr/>
          <p:nvPr/>
        </p:nvSpPr>
        <p:spPr>
          <a:xfrm>
            <a:off x="5067605" y="2167128"/>
            <a:ext cx="2026310" cy="365760"/>
          </a:xfrm>
          <a:prstGeom prst="rect">
            <a:avLst/>
          </a:prstGeom>
          <a:noFill/>
          <a:ln/>
        </p:spPr>
        <p:txBody>
          <a:bodyPr wrap="square" lIns="0" tIns="0" rIns="0" bIns="0" rtlCol="0" anchor="ctr"/>
          <a:lstStyle/>
          <a:p>
            <a:pPr algn="ctr" indent="0" marL="0">
              <a:buNone/>
            </a:pPr>
            <a:r>
              <a:rPr lang="en-US" sz="1200" b="1" dirty="0">
                <a:solidFill>
                  <a:srgbClr val="1F1F1F"/>
                </a:solidFill>
              </a:rPr>
              <a:t>Implementation &amp; Unit Test</a:t>
            </a:r>
            <a:endParaRPr lang="en-US" sz="1200" dirty="0"/>
          </a:p>
        </p:txBody>
      </p:sp>
      <p:sp>
        <p:nvSpPr>
          <p:cNvPr id="14" name="Text 12"/>
          <p:cNvSpPr/>
          <p:nvPr/>
        </p:nvSpPr>
        <p:spPr>
          <a:xfrm>
            <a:off x="7148779" y="222199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15" name="Shape 13"/>
          <p:cNvSpPr/>
          <p:nvPr/>
        </p:nvSpPr>
        <p:spPr>
          <a:xfrm>
            <a:off x="7267651" y="2057400"/>
            <a:ext cx="2136038" cy="621792"/>
          </a:xfrm>
          <a:prstGeom prst="roundRect">
            <a:avLst>
              <a:gd name="adj" fmla="val 8824"/>
            </a:avLst>
          </a:prstGeom>
          <a:solidFill>
            <a:srgbClr val="EAF2F8"/>
          </a:solidFill>
          <a:ln w="12700">
            <a:solidFill>
              <a:srgbClr val="2F75B5"/>
            </a:solidFill>
            <a:prstDash val="solid"/>
          </a:ln>
        </p:spPr>
      </p:sp>
      <p:sp>
        <p:nvSpPr>
          <p:cNvPr id="16" name="Text 14"/>
          <p:cNvSpPr/>
          <p:nvPr/>
        </p:nvSpPr>
        <p:spPr>
          <a:xfrm>
            <a:off x="7322515" y="2167128"/>
            <a:ext cx="2026310" cy="365760"/>
          </a:xfrm>
          <a:prstGeom prst="rect">
            <a:avLst/>
          </a:prstGeom>
          <a:noFill/>
          <a:ln/>
        </p:spPr>
        <p:txBody>
          <a:bodyPr wrap="square" lIns="0" tIns="0" rIns="0" bIns="0" rtlCol="0" anchor="ctr"/>
          <a:lstStyle/>
          <a:p>
            <a:pPr algn="ctr" indent="0" marL="0">
              <a:buNone/>
            </a:pPr>
            <a:r>
              <a:rPr lang="en-US" sz="1200" b="1" dirty="0">
                <a:solidFill>
                  <a:srgbClr val="1F1F1F"/>
                </a:solidFill>
              </a:rPr>
              <a:t>Integration &amp; System Test</a:t>
            </a:r>
            <a:endParaRPr lang="en-US" sz="1200" dirty="0"/>
          </a:p>
        </p:txBody>
      </p:sp>
      <p:sp>
        <p:nvSpPr>
          <p:cNvPr id="17" name="Text 15"/>
          <p:cNvSpPr/>
          <p:nvPr/>
        </p:nvSpPr>
        <p:spPr>
          <a:xfrm>
            <a:off x="9403690" y="222199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18" name="Shape 16"/>
          <p:cNvSpPr/>
          <p:nvPr/>
        </p:nvSpPr>
        <p:spPr>
          <a:xfrm>
            <a:off x="9522562" y="2057400"/>
            <a:ext cx="2136038" cy="621792"/>
          </a:xfrm>
          <a:prstGeom prst="roundRect">
            <a:avLst>
              <a:gd name="adj" fmla="val 8824"/>
            </a:avLst>
          </a:prstGeom>
          <a:solidFill>
            <a:srgbClr val="D9EAF7"/>
          </a:solidFill>
          <a:ln w="12700">
            <a:solidFill>
              <a:srgbClr val="2F75B5"/>
            </a:solidFill>
            <a:prstDash val="solid"/>
          </a:ln>
        </p:spPr>
      </p:sp>
      <p:sp>
        <p:nvSpPr>
          <p:cNvPr id="19" name="Text 17"/>
          <p:cNvSpPr/>
          <p:nvPr/>
        </p:nvSpPr>
        <p:spPr>
          <a:xfrm>
            <a:off x="9577426" y="2167128"/>
            <a:ext cx="2026310" cy="365760"/>
          </a:xfrm>
          <a:prstGeom prst="rect">
            <a:avLst/>
          </a:prstGeom>
          <a:noFill/>
          <a:ln/>
        </p:spPr>
        <p:txBody>
          <a:bodyPr wrap="square" lIns="0" tIns="0" rIns="0" bIns="0" rtlCol="0" anchor="ctr"/>
          <a:lstStyle/>
          <a:p>
            <a:pPr algn="ctr" indent="0" marL="0">
              <a:buNone/>
            </a:pPr>
            <a:r>
              <a:rPr lang="en-US" sz="1200" b="1" dirty="0">
                <a:solidFill>
                  <a:srgbClr val="1F1F1F"/>
                </a:solidFill>
              </a:rPr>
              <a:t>Operation &amp; Maintenance</a:t>
            </a:r>
            <a:endParaRPr lang="en-US" sz="1200" dirty="0"/>
          </a:p>
        </p:txBody>
      </p:sp>
      <p:sp>
        <p:nvSpPr>
          <p:cNvPr id="20" name="Text 18"/>
          <p:cNvSpPr/>
          <p:nvPr/>
        </p:nvSpPr>
        <p:spPr>
          <a:xfrm>
            <a:off x="1920240" y="3108960"/>
            <a:ext cx="8321040" cy="457200"/>
          </a:xfrm>
          <a:prstGeom prst="rect">
            <a:avLst/>
          </a:prstGeom>
          <a:noFill/>
          <a:ln/>
        </p:spPr>
        <p:txBody>
          <a:bodyPr wrap="square" lIns="0" tIns="0" rIns="0" bIns="0" rtlCol="0" anchor="ctr"/>
          <a:lstStyle/>
          <a:p>
            <a:pPr algn="ctr" indent="0" marL="0">
              <a:buNone/>
            </a:pPr>
            <a:r>
              <a:rPr lang="en-US" sz="2000" dirty="0">
                <a:solidFill>
                  <a:srgbClr val="666666"/>
                </a:solidFill>
              </a:rPr>
              <a:t>Plan-driven sequence with documented phase outputs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Waterfall: Strengths and Limits</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6</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sp>
        <p:nvSpPr>
          <p:cNvPr id="6" name="Text 4"/>
          <p:cNvSpPr/>
          <p:nvPr/>
        </p:nvSpPr>
        <p:spPr>
          <a:xfrm>
            <a:off x="777240" y="1024128"/>
            <a:ext cx="10652760" cy="5074920"/>
          </a:xfrm>
          <a:prstGeom prst="rect">
            <a:avLst/>
          </a:prstGeom>
          <a:noFill/>
          <a:ln/>
        </p:spPr>
        <p:txBody>
          <a:bodyPr wrap="square" lIns="1016" tIns="1016" rIns="1016" bIns="1016" rtlCol="0" anchor="ctr">
            <a:normAutofit/>
          </a:bodyPr>
          <a:lstStyle/>
          <a:p>
            <a:pPr indent="0" marL="0">
              <a:buNone/>
            </a:pPr>
            <a:r>
              <a:rPr lang="en-US" sz="1900" dirty="0">
                <a:solidFill>
                  <a:srgbClr val="1F1F1F"/>
                </a:solidFill>
              </a:rPr>
              <a:t>Advantages:</a:t>
            </a:r>
            <a:endParaRPr lang="en-US" sz="1900" dirty="0"/>
          </a:p>
          <a:p>
            <a:pPr marL="203200" indent="-203200">
              <a:buSzPct val="100000"/>
              <a:buChar char="•"/>
            </a:pPr>
            <a:r>
              <a:rPr lang="en-US" sz="1900" dirty="0">
                <a:solidFill>
                  <a:srgbClr val="1F1F1F"/>
                </a:solidFill>
              </a:rPr>
              <a:t>• Clear phases, milestones, and documentation</a:t>
            </a:r>
            <a:endParaRPr lang="en-US" sz="1900" dirty="0"/>
          </a:p>
          <a:p>
            <a:pPr marL="203200" indent="-203200">
              <a:buSzPct val="100000"/>
              <a:buChar char="•"/>
            </a:pPr>
            <a:r>
              <a:rPr lang="en-US" sz="1900" dirty="0">
                <a:solidFill>
                  <a:srgbClr val="1F1F1F"/>
                </a:solidFill>
              </a:rPr>
              <a:t>• Easier planning and progress tracking</a:t>
            </a:r>
            <a:endParaRPr lang="en-US" sz="1900" dirty="0"/>
          </a:p>
          <a:p>
            <a:pPr marL="203200" indent="-203200">
              <a:buSzPct val="100000"/>
              <a:buChar char="•"/>
            </a:pPr>
            <a:r>
              <a:rPr lang="en-US" sz="1900" dirty="0">
                <a:solidFill>
                  <a:srgbClr val="1F1F1F"/>
                </a:solidFill>
              </a:rPr>
              <a:t>• Useful when requirements are stable</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Disadvantages:</a:t>
            </a:r>
            <a:endParaRPr lang="en-US" sz="1900" dirty="0"/>
          </a:p>
          <a:p>
            <a:pPr marL="203200" indent="-203200">
              <a:buSzPct val="100000"/>
              <a:buChar char="•"/>
            </a:pPr>
            <a:r>
              <a:rPr lang="en-US" sz="1900" dirty="0">
                <a:solidFill>
                  <a:srgbClr val="1F1F1F"/>
                </a:solidFill>
              </a:rPr>
              <a:t>• Harder to respond to changing requirements</a:t>
            </a:r>
            <a:endParaRPr lang="en-US" sz="1900" dirty="0"/>
          </a:p>
          <a:p>
            <a:pPr marL="203200" indent="-203200">
              <a:buSzPct val="100000"/>
              <a:buChar char="•"/>
            </a:pPr>
            <a:r>
              <a:rPr lang="en-US" sz="1900" dirty="0">
                <a:solidFill>
                  <a:srgbClr val="1F1F1F"/>
                </a:solidFill>
              </a:rPr>
              <a:t>• Working software appears later</a:t>
            </a:r>
            <a:endParaRPr lang="en-US" sz="1900" dirty="0"/>
          </a:p>
          <a:p>
            <a:pPr marL="203200" indent="-203200">
              <a:buSzPct val="100000"/>
              <a:buChar char="•"/>
            </a:pPr>
            <a:r>
              <a:rPr lang="en-US" sz="1900" dirty="0">
                <a:solidFill>
                  <a:srgbClr val="1F1F1F"/>
                </a:solidFill>
              </a:rPr>
              <a:t>• Late discoveries create expensive rework</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Best fit: stable, well-understood requirements, regulated work, embedded or safety-critical contexts where documentation and verification are important.</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Incremental Development</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7</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sp>
        <p:nvSpPr>
          <p:cNvPr id="6" name="Shape 4"/>
          <p:cNvSpPr/>
          <p:nvPr/>
        </p:nvSpPr>
        <p:spPr>
          <a:xfrm>
            <a:off x="502920" y="1965960"/>
            <a:ext cx="2136038" cy="621792"/>
          </a:xfrm>
          <a:prstGeom prst="roundRect">
            <a:avLst>
              <a:gd name="adj" fmla="val 8824"/>
            </a:avLst>
          </a:prstGeom>
          <a:solidFill>
            <a:srgbClr val="D9EAF7"/>
          </a:solidFill>
          <a:ln w="12700">
            <a:solidFill>
              <a:srgbClr val="2F75B5"/>
            </a:solidFill>
            <a:prstDash val="solid"/>
          </a:ln>
        </p:spPr>
      </p:sp>
      <p:sp>
        <p:nvSpPr>
          <p:cNvPr id="7" name="Text 5"/>
          <p:cNvSpPr/>
          <p:nvPr/>
        </p:nvSpPr>
        <p:spPr>
          <a:xfrm>
            <a:off x="557784" y="2075688"/>
            <a:ext cx="2026310" cy="365760"/>
          </a:xfrm>
          <a:prstGeom prst="rect">
            <a:avLst/>
          </a:prstGeom>
          <a:noFill/>
          <a:ln/>
        </p:spPr>
        <p:txBody>
          <a:bodyPr wrap="square" lIns="0" tIns="0" rIns="0" bIns="0" rtlCol="0" anchor="ctr"/>
          <a:lstStyle/>
          <a:p>
            <a:pPr algn="ctr" indent="0" marL="0">
              <a:buNone/>
            </a:pPr>
            <a:r>
              <a:rPr lang="en-US" sz="1200" b="1" dirty="0">
                <a:solidFill>
                  <a:srgbClr val="1F1F1F"/>
                </a:solidFill>
              </a:rPr>
              <a:t>Increment 1</a:t>
            </a:r>
            <a:endParaRPr lang="en-US" sz="1200" dirty="0"/>
          </a:p>
        </p:txBody>
      </p:sp>
      <p:sp>
        <p:nvSpPr>
          <p:cNvPr id="8" name="Text 6"/>
          <p:cNvSpPr/>
          <p:nvPr/>
        </p:nvSpPr>
        <p:spPr>
          <a:xfrm>
            <a:off x="2638958" y="213055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9" name="Shape 7"/>
          <p:cNvSpPr/>
          <p:nvPr/>
        </p:nvSpPr>
        <p:spPr>
          <a:xfrm>
            <a:off x="2757830" y="1965960"/>
            <a:ext cx="2136038" cy="621792"/>
          </a:xfrm>
          <a:prstGeom prst="roundRect">
            <a:avLst>
              <a:gd name="adj" fmla="val 8824"/>
            </a:avLst>
          </a:prstGeom>
          <a:solidFill>
            <a:srgbClr val="EAF2F8"/>
          </a:solidFill>
          <a:ln w="12700">
            <a:solidFill>
              <a:srgbClr val="2F75B5"/>
            </a:solidFill>
            <a:prstDash val="solid"/>
          </a:ln>
        </p:spPr>
      </p:sp>
      <p:sp>
        <p:nvSpPr>
          <p:cNvPr id="10" name="Text 8"/>
          <p:cNvSpPr/>
          <p:nvPr/>
        </p:nvSpPr>
        <p:spPr>
          <a:xfrm>
            <a:off x="2812694" y="2075688"/>
            <a:ext cx="2026310" cy="365760"/>
          </a:xfrm>
          <a:prstGeom prst="rect">
            <a:avLst/>
          </a:prstGeom>
          <a:noFill/>
          <a:ln/>
        </p:spPr>
        <p:txBody>
          <a:bodyPr wrap="square" lIns="0" tIns="0" rIns="0" bIns="0" rtlCol="0" anchor="ctr"/>
          <a:lstStyle/>
          <a:p>
            <a:pPr algn="ctr" indent="0" marL="0">
              <a:buNone/>
            </a:pPr>
            <a:r>
              <a:rPr lang="en-US" sz="1200" b="1" dirty="0">
                <a:solidFill>
                  <a:srgbClr val="1F1F1F"/>
                </a:solidFill>
              </a:rPr>
              <a:t>Feedback</a:t>
            </a:r>
            <a:endParaRPr lang="en-US" sz="1200" dirty="0"/>
          </a:p>
        </p:txBody>
      </p:sp>
      <p:sp>
        <p:nvSpPr>
          <p:cNvPr id="11" name="Text 9"/>
          <p:cNvSpPr/>
          <p:nvPr/>
        </p:nvSpPr>
        <p:spPr>
          <a:xfrm>
            <a:off x="4893869" y="213055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12" name="Shape 10"/>
          <p:cNvSpPr/>
          <p:nvPr/>
        </p:nvSpPr>
        <p:spPr>
          <a:xfrm>
            <a:off x="5012741" y="1965960"/>
            <a:ext cx="2136038" cy="621792"/>
          </a:xfrm>
          <a:prstGeom prst="roundRect">
            <a:avLst>
              <a:gd name="adj" fmla="val 8824"/>
            </a:avLst>
          </a:prstGeom>
          <a:solidFill>
            <a:srgbClr val="D9EAF7"/>
          </a:solidFill>
          <a:ln w="12700">
            <a:solidFill>
              <a:srgbClr val="2F75B5"/>
            </a:solidFill>
            <a:prstDash val="solid"/>
          </a:ln>
        </p:spPr>
      </p:sp>
      <p:sp>
        <p:nvSpPr>
          <p:cNvPr id="13" name="Text 11"/>
          <p:cNvSpPr/>
          <p:nvPr/>
        </p:nvSpPr>
        <p:spPr>
          <a:xfrm>
            <a:off x="5067605" y="2075688"/>
            <a:ext cx="2026310" cy="365760"/>
          </a:xfrm>
          <a:prstGeom prst="rect">
            <a:avLst/>
          </a:prstGeom>
          <a:noFill/>
          <a:ln/>
        </p:spPr>
        <p:txBody>
          <a:bodyPr wrap="square" lIns="0" tIns="0" rIns="0" bIns="0" rtlCol="0" anchor="ctr"/>
          <a:lstStyle/>
          <a:p>
            <a:pPr algn="ctr" indent="0" marL="0">
              <a:buNone/>
            </a:pPr>
            <a:r>
              <a:rPr lang="en-US" sz="1200" b="1" dirty="0">
                <a:solidFill>
                  <a:srgbClr val="1F1F1F"/>
                </a:solidFill>
              </a:rPr>
              <a:t>Increment 2</a:t>
            </a:r>
            <a:endParaRPr lang="en-US" sz="1200" dirty="0"/>
          </a:p>
        </p:txBody>
      </p:sp>
      <p:sp>
        <p:nvSpPr>
          <p:cNvPr id="14" name="Text 12"/>
          <p:cNvSpPr/>
          <p:nvPr/>
        </p:nvSpPr>
        <p:spPr>
          <a:xfrm>
            <a:off x="7148779" y="213055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15" name="Shape 13"/>
          <p:cNvSpPr/>
          <p:nvPr/>
        </p:nvSpPr>
        <p:spPr>
          <a:xfrm>
            <a:off x="7267651" y="1965960"/>
            <a:ext cx="2136038" cy="621792"/>
          </a:xfrm>
          <a:prstGeom prst="roundRect">
            <a:avLst>
              <a:gd name="adj" fmla="val 8824"/>
            </a:avLst>
          </a:prstGeom>
          <a:solidFill>
            <a:srgbClr val="EAF2F8"/>
          </a:solidFill>
          <a:ln w="12700">
            <a:solidFill>
              <a:srgbClr val="2F75B5"/>
            </a:solidFill>
            <a:prstDash val="solid"/>
          </a:ln>
        </p:spPr>
      </p:sp>
      <p:sp>
        <p:nvSpPr>
          <p:cNvPr id="16" name="Text 14"/>
          <p:cNvSpPr/>
          <p:nvPr/>
        </p:nvSpPr>
        <p:spPr>
          <a:xfrm>
            <a:off x="7322515" y="2075688"/>
            <a:ext cx="2026310" cy="365760"/>
          </a:xfrm>
          <a:prstGeom prst="rect">
            <a:avLst/>
          </a:prstGeom>
          <a:noFill/>
          <a:ln/>
        </p:spPr>
        <p:txBody>
          <a:bodyPr wrap="square" lIns="0" tIns="0" rIns="0" bIns="0" rtlCol="0" anchor="ctr"/>
          <a:lstStyle/>
          <a:p>
            <a:pPr algn="ctr" indent="0" marL="0">
              <a:buNone/>
            </a:pPr>
            <a:r>
              <a:rPr lang="en-US" sz="1200" b="1" dirty="0">
                <a:solidFill>
                  <a:srgbClr val="1F1F1F"/>
                </a:solidFill>
              </a:rPr>
              <a:t>Feedback</a:t>
            </a:r>
            <a:endParaRPr lang="en-US" sz="1200" dirty="0"/>
          </a:p>
        </p:txBody>
      </p:sp>
      <p:sp>
        <p:nvSpPr>
          <p:cNvPr id="17" name="Text 15"/>
          <p:cNvSpPr/>
          <p:nvPr/>
        </p:nvSpPr>
        <p:spPr>
          <a:xfrm>
            <a:off x="9403690" y="213055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18" name="Shape 16"/>
          <p:cNvSpPr/>
          <p:nvPr/>
        </p:nvSpPr>
        <p:spPr>
          <a:xfrm>
            <a:off x="9522562" y="1965960"/>
            <a:ext cx="2136038" cy="621792"/>
          </a:xfrm>
          <a:prstGeom prst="roundRect">
            <a:avLst>
              <a:gd name="adj" fmla="val 8824"/>
            </a:avLst>
          </a:prstGeom>
          <a:solidFill>
            <a:srgbClr val="D9EAF7"/>
          </a:solidFill>
          <a:ln w="12700">
            <a:solidFill>
              <a:srgbClr val="2F75B5"/>
            </a:solidFill>
            <a:prstDash val="solid"/>
          </a:ln>
        </p:spPr>
      </p:sp>
      <p:sp>
        <p:nvSpPr>
          <p:cNvPr id="19" name="Text 17"/>
          <p:cNvSpPr/>
          <p:nvPr/>
        </p:nvSpPr>
        <p:spPr>
          <a:xfrm>
            <a:off x="9577426" y="2075688"/>
            <a:ext cx="2026310" cy="365760"/>
          </a:xfrm>
          <a:prstGeom prst="rect">
            <a:avLst/>
          </a:prstGeom>
          <a:noFill/>
          <a:ln/>
        </p:spPr>
        <p:txBody>
          <a:bodyPr wrap="square" lIns="0" tIns="0" rIns="0" bIns="0" rtlCol="0" anchor="ctr"/>
          <a:lstStyle/>
          <a:p>
            <a:pPr algn="ctr" indent="0" marL="0">
              <a:buNone/>
            </a:pPr>
            <a:r>
              <a:rPr lang="en-US" sz="1200" b="1" dirty="0">
                <a:solidFill>
                  <a:srgbClr val="1F1F1F"/>
                </a:solidFill>
              </a:rPr>
              <a:t>Increment 3</a:t>
            </a:r>
            <a:endParaRPr lang="en-US" sz="1200" dirty="0"/>
          </a:p>
        </p:txBody>
      </p:sp>
      <p:sp>
        <p:nvSpPr>
          <p:cNvPr id="20" name="Text 18"/>
          <p:cNvSpPr/>
          <p:nvPr/>
        </p:nvSpPr>
        <p:spPr>
          <a:xfrm>
            <a:off x="1005840" y="3063240"/>
            <a:ext cx="10149840" cy="502920"/>
          </a:xfrm>
          <a:prstGeom prst="rect">
            <a:avLst/>
          </a:prstGeom>
          <a:noFill/>
          <a:ln/>
        </p:spPr>
        <p:txBody>
          <a:bodyPr wrap="square" lIns="0" tIns="0" rIns="0" bIns="0" rtlCol="0" anchor="ctr"/>
          <a:lstStyle/>
          <a:p>
            <a:pPr algn="ctr" indent="0" marL="0">
              <a:buNone/>
            </a:pPr>
            <a:r>
              <a:rPr lang="en-US" sz="2000" dirty="0">
                <a:solidFill>
                  <a:srgbClr val="1F1F1F"/>
                </a:solidFill>
              </a:rPr>
              <a:t>Specification, development, and validation overlap across releases.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Integration and Configuration</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8</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sp>
        <p:nvSpPr>
          <p:cNvPr id="6" name="Text 4"/>
          <p:cNvSpPr/>
          <p:nvPr/>
        </p:nvSpPr>
        <p:spPr>
          <a:xfrm>
            <a:off x="777240" y="1024128"/>
            <a:ext cx="10652760" cy="5074920"/>
          </a:xfrm>
          <a:prstGeom prst="rect">
            <a:avLst/>
          </a:prstGeom>
          <a:noFill/>
          <a:ln/>
        </p:spPr>
        <p:txBody>
          <a:bodyPr wrap="square" lIns="1016" tIns="1016" rIns="1016" bIns="1016" rtlCol="0" anchor="ctr">
            <a:normAutofit/>
          </a:bodyPr>
          <a:lstStyle/>
          <a:p>
            <a:pPr indent="0" marL="0">
              <a:buNone/>
            </a:pPr>
            <a:r>
              <a:rPr lang="en-US" sz="1900" dirty="0">
                <a:solidFill>
                  <a:srgbClr val="1F1F1F"/>
                </a:solidFill>
              </a:rPr>
              <a:t>Reuse-based development starts with existing software, frameworks, services, libraries, or configurable systems.</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Typical flow: requirements → software discovery/evaluation → requirements refinement → configuration/adaptation → integration and testing.</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Advantage: less software must be built from scratch, which saves time and effort.</a:t>
            </a:r>
            <a:endParaRPr lang="en-US" sz="1900" dirty="0"/>
          </a:p>
          <a:p>
            <a:pPr indent="0" marL="0">
              <a:buNone/>
            </a:pPr>
            <a:r>
              <a:rPr lang="en-US" sz="1900" dirty="0">
                <a:solidFill>
                  <a:srgbClr val="1F1F1F"/>
                </a:solidFill>
              </a:rPr>
              <a:t>Limitation: available components may force requirement compromises or create dependency and integration constraints.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Software Process Activities and Change</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9</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sp>
        <p:nvSpPr>
          <p:cNvPr id="6" name="Text 4"/>
          <p:cNvSpPr/>
          <p:nvPr/>
        </p:nvSpPr>
        <p:spPr>
          <a:xfrm>
            <a:off x="777240" y="1024128"/>
            <a:ext cx="10652760" cy="5074920"/>
          </a:xfrm>
          <a:prstGeom prst="rect">
            <a:avLst/>
          </a:prstGeom>
          <a:noFill/>
          <a:ln/>
        </p:spPr>
        <p:txBody>
          <a:bodyPr wrap="square" lIns="1016" tIns="1016" rIns="1016" bIns="1016" rtlCol="0" anchor="ctr">
            <a:normAutofit/>
          </a:bodyPr>
          <a:lstStyle/>
          <a:p>
            <a:pPr indent="0" marL="0">
              <a:buNone/>
            </a:pPr>
            <a:r>
              <a:rPr lang="en-US" sz="1900" dirty="0">
                <a:solidFill>
                  <a:srgbClr val="1F1F1F"/>
                </a:solidFill>
              </a:rPr>
              <a:t>Specification identifies services, constraints, and stakeholder needs. Design and implementation turn requirements into working software. Validation checks whether the product meets its specification and user needs. Evolution changes the software as needs, technology, and business conditions change.</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Change is inevitable. Prototypes reduce uncertainty before major commitment. Incremental delivery gives users useful functionality earlier and creates repeated feedback opportunities.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Real-World Application 1: GitHub.com</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10</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sp>
        <p:nvSpPr>
          <p:cNvPr id="6" name="Text 4"/>
          <p:cNvSpPr/>
          <p:nvPr/>
        </p:nvSpPr>
        <p:spPr>
          <a:xfrm>
            <a:off x="777240" y="1024128"/>
            <a:ext cx="10652760" cy="5074920"/>
          </a:xfrm>
          <a:prstGeom prst="rect">
            <a:avLst/>
          </a:prstGeom>
          <a:noFill/>
          <a:ln/>
        </p:spPr>
        <p:txBody>
          <a:bodyPr wrap="square" lIns="1016" tIns="1016" rIns="1016" bIns="1016" rtlCol="0" anchor="ctr">
            <a:normAutofit/>
          </a:bodyPr>
          <a:lstStyle/>
          <a:p>
            <a:pPr indent="0" marL="0">
              <a:buNone/>
            </a:pPr>
            <a:r>
              <a:rPr lang="en-US" sz="1900" dirty="0">
                <a:solidFill>
                  <a:srgbClr val="1F1F1F"/>
                </a:solidFill>
              </a:rPr>
              <a:t>Company: GitHub</a:t>
            </a:r>
            <a:endParaRPr lang="en-US" sz="1900" dirty="0"/>
          </a:p>
          <a:p>
            <a:pPr indent="0" marL="0">
              <a:buNone/>
            </a:pPr>
            <a:r>
              <a:rPr lang="en-US" sz="1900" dirty="0">
                <a:solidFill>
                  <a:srgbClr val="1F1F1F"/>
                </a:solidFill>
              </a:rPr>
              <a:t>System: GitHub.com, a collaborative software development platform used by developers and organizations for repositories, pull requests, code review, automation, and software delivery.</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Evidence from GitHub engineering shows frequent deployment, automated CI, pull-request workflows, merge queues, staged rollout, and developer feedback. This supports an agile/incremental process with strong DevOps automation.</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GitHub.com Development Process</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11</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sp>
        <p:nvSpPr>
          <p:cNvPr id="6" name="Shape 4"/>
          <p:cNvSpPr/>
          <p:nvPr/>
        </p:nvSpPr>
        <p:spPr>
          <a:xfrm>
            <a:off x="502920" y="1965960"/>
            <a:ext cx="1491778" cy="621792"/>
          </a:xfrm>
          <a:prstGeom prst="roundRect">
            <a:avLst>
              <a:gd name="adj" fmla="val 8824"/>
            </a:avLst>
          </a:prstGeom>
          <a:solidFill>
            <a:srgbClr val="D9EAF7"/>
          </a:solidFill>
          <a:ln w="12700">
            <a:solidFill>
              <a:srgbClr val="2F75B5"/>
            </a:solidFill>
            <a:prstDash val="solid"/>
          </a:ln>
        </p:spPr>
      </p:sp>
      <p:sp>
        <p:nvSpPr>
          <p:cNvPr id="7" name="Text 5"/>
          <p:cNvSpPr/>
          <p:nvPr/>
        </p:nvSpPr>
        <p:spPr>
          <a:xfrm>
            <a:off x="557784" y="2075688"/>
            <a:ext cx="1382050" cy="365760"/>
          </a:xfrm>
          <a:prstGeom prst="rect">
            <a:avLst/>
          </a:prstGeom>
          <a:noFill/>
          <a:ln/>
        </p:spPr>
        <p:txBody>
          <a:bodyPr wrap="square" lIns="0" tIns="0" rIns="0" bIns="0" rtlCol="0" anchor="ctr"/>
          <a:lstStyle/>
          <a:p>
            <a:pPr algn="ctr" indent="0" marL="0">
              <a:buNone/>
            </a:pPr>
            <a:r>
              <a:rPr lang="en-US" sz="1200" b="1" dirty="0">
                <a:solidFill>
                  <a:srgbClr val="1F1F1F"/>
                </a:solidFill>
              </a:rPr>
              <a:t>Need / Issue</a:t>
            </a:r>
            <a:endParaRPr lang="en-US" sz="1200" dirty="0"/>
          </a:p>
        </p:txBody>
      </p:sp>
      <p:sp>
        <p:nvSpPr>
          <p:cNvPr id="8" name="Text 6"/>
          <p:cNvSpPr/>
          <p:nvPr/>
        </p:nvSpPr>
        <p:spPr>
          <a:xfrm>
            <a:off x="1994698" y="213055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9" name="Shape 7"/>
          <p:cNvSpPr/>
          <p:nvPr/>
        </p:nvSpPr>
        <p:spPr>
          <a:xfrm>
            <a:off x="2113570" y="1965960"/>
            <a:ext cx="1491778" cy="621792"/>
          </a:xfrm>
          <a:prstGeom prst="roundRect">
            <a:avLst>
              <a:gd name="adj" fmla="val 8824"/>
            </a:avLst>
          </a:prstGeom>
          <a:solidFill>
            <a:srgbClr val="EAF2F8"/>
          </a:solidFill>
          <a:ln w="12700">
            <a:solidFill>
              <a:srgbClr val="2F75B5"/>
            </a:solidFill>
            <a:prstDash val="solid"/>
          </a:ln>
        </p:spPr>
      </p:sp>
      <p:sp>
        <p:nvSpPr>
          <p:cNvPr id="10" name="Text 8"/>
          <p:cNvSpPr/>
          <p:nvPr/>
        </p:nvSpPr>
        <p:spPr>
          <a:xfrm>
            <a:off x="2168434" y="2075688"/>
            <a:ext cx="1382050" cy="365760"/>
          </a:xfrm>
          <a:prstGeom prst="rect">
            <a:avLst/>
          </a:prstGeom>
          <a:noFill/>
          <a:ln/>
        </p:spPr>
        <p:txBody>
          <a:bodyPr wrap="square" lIns="0" tIns="0" rIns="0" bIns="0" rtlCol="0" anchor="ctr"/>
          <a:lstStyle/>
          <a:p>
            <a:pPr algn="ctr" indent="0" marL="0">
              <a:buNone/>
            </a:pPr>
            <a:r>
              <a:rPr lang="en-US" sz="1200" b="1" dirty="0">
                <a:solidFill>
                  <a:srgbClr val="1F1F1F"/>
                </a:solidFill>
              </a:rPr>
              <a:t>Branch + PR</a:t>
            </a:r>
            <a:endParaRPr lang="en-US" sz="1200" dirty="0"/>
          </a:p>
        </p:txBody>
      </p:sp>
      <p:sp>
        <p:nvSpPr>
          <p:cNvPr id="11" name="Text 9"/>
          <p:cNvSpPr/>
          <p:nvPr/>
        </p:nvSpPr>
        <p:spPr>
          <a:xfrm>
            <a:off x="3605349" y="213055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12" name="Shape 10"/>
          <p:cNvSpPr/>
          <p:nvPr/>
        </p:nvSpPr>
        <p:spPr>
          <a:xfrm>
            <a:off x="3724221" y="1965960"/>
            <a:ext cx="1491778" cy="621792"/>
          </a:xfrm>
          <a:prstGeom prst="roundRect">
            <a:avLst>
              <a:gd name="adj" fmla="val 8824"/>
            </a:avLst>
          </a:prstGeom>
          <a:solidFill>
            <a:srgbClr val="D9EAF7"/>
          </a:solidFill>
          <a:ln w="12700">
            <a:solidFill>
              <a:srgbClr val="2F75B5"/>
            </a:solidFill>
            <a:prstDash val="solid"/>
          </a:ln>
        </p:spPr>
      </p:sp>
      <p:sp>
        <p:nvSpPr>
          <p:cNvPr id="13" name="Text 11"/>
          <p:cNvSpPr/>
          <p:nvPr/>
        </p:nvSpPr>
        <p:spPr>
          <a:xfrm>
            <a:off x="3779085" y="2075688"/>
            <a:ext cx="1382050" cy="365760"/>
          </a:xfrm>
          <a:prstGeom prst="rect">
            <a:avLst/>
          </a:prstGeom>
          <a:noFill/>
          <a:ln/>
        </p:spPr>
        <p:txBody>
          <a:bodyPr wrap="square" lIns="0" tIns="0" rIns="0" bIns="0" rtlCol="0" anchor="ctr"/>
          <a:lstStyle/>
          <a:p>
            <a:pPr algn="ctr" indent="0" marL="0">
              <a:buNone/>
            </a:pPr>
            <a:r>
              <a:rPr lang="en-US" sz="1200" b="1" dirty="0">
                <a:solidFill>
                  <a:srgbClr val="1F1F1F"/>
                </a:solidFill>
              </a:rPr>
              <a:t>Automated CI</a:t>
            </a:r>
            <a:endParaRPr lang="en-US" sz="1200" dirty="0"/>
          </a:p>
        </p:txBody>
      </p:sp>
      <p:sp>
        <p:nvSpPr>
          <p:cNvPr id="14" name="Text 12"/>
          <p:cNvSpPr/>
          <p:nvPr/>
        </p:nvSpPr>
        <p:spPr>
          <a:xfrm>
            <a:off x="5215999" y="213055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15" name="Shape 13"/>
          <p:cNvSpPr/>
          <p:nvPr/>
        </p:nvSpPr>
        <p:spPr>
          <a:xfrm>
            <a:off x="5334871" y="1965960"/>
            <a:ext cx="1491778" cy="621792"/>
          </a:xfrm>
          <a:prstGeom prst="roundRect">
            <a:avLst>
              <a:gd name="adj" fmla="val 8824"/>
            </a:avLst>
          </a:prstGeom>
          <a:solidFill>
            <a:srgbClr val="EAF2F8"/>
          </a:solidFill>
          <a:ln w="12700">
            <a:solidFill>
              <a:srgbClr val="2F75B5"/>
            </a:solidFill>
            <a:prstDash val="solid"/>
          </a:ln>
        </p:spPr>
      </p:sp>
      <p:sp>
        <p:nvSpPr>
          <p:cNvPr id="16" name="Text 14"/>
          <p:cNvSpPr/>
          <p:nvPr/>
        </p:nvSpPr>
        <p:spPr>
          <a:xfrm>
            <a:off x="5389735" y="2075688"/>
            <a:ext cx="1382050" cy="365760"/>
          </a:xfrm>
          <a:prstGeom prst="rect">
            <a:avLst/>
          </a:prstGeom>
          <a:noFill/>
          <a:ln/>
        </p:spPr>
        <p:txBody>
          <a:bodyPr wrap="square" lIns="0" tIns="0" rIns="0" bIns="0" rtlCol="0" anchor="ctr"/>
          <a:lstStyle/>
          <a:p>
            <a:pPr algn="ctr" indent="0" marL="0">
              <a:buNone/>
            </a:pPr>
            <a:r>
              <a:rPr lang="en-US" sz="1200" b="1" dirty="0">
                <a:solidFill>
                  <a:srgbClr val="1F1F1F"/>
                </a:solidFill>
              </a:rPr>
              <a:t>Review</a:t>
            </a:r>
            <a:endParaRPr lang="en-US" sz="1200" dirty="0"/>
          </a:p>
        </p:txBody>
      </p:sp>
      <p:sp>
        <p:nvSpPr>
          <p:cNvPr id="17" name="Text 15"/>
          <p:cNvSpPr/>
          <p:nvPr/>
        </p:nvSpPr>
        <p:spPr>
          <a:xfrm>
            <a:off x="6826649" y="213055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18" name="Shape 16"/>
          <p:cNvSpPr/>
          <p:nvPr/>
        </p:nvSpPr>
        <p:spPr>
          <a:xfrm>
            <a:off x="6945521" y="1965960"/>
            <a:ext cx="1491778" cy="621792"/>
          </a:xfrm>
          <a:prstGeom prst="roundRect">
            <a:avLst>
              <a:gd name="adj" fmla="val 8824"/>
            </a:avLst>
          </a:prstGeom>
          <a:solidFill>
            <a:srgbClr val="D9EAF7"/>
          </a:solidFill>
          <a:ln w="12700">
            <a:solidFill>
              <a:srgbClr val="2F75B5"/>
            </a:solidFill>
            <a:prstDash val="solid"/>
          </a:ln>
        </p:spPr>
      </p:sp>
      <p:sp>
        <p:nvSpPr>
          <p:cNvPr id="19" name="Text 17"/>
          <p:cNvSpPr/>
          <p:nvPr/>
        </p:nvSpPr>
        <p:spPr>
          <a:xfrm>
            <a:off x="7000385" y="2075688"/>
            <a:ext cx="1382050" cy="365760"/>
          </a:xfrm>
          <a:prstGeom prst="rect">
            <a:avLst/>
          </a:prstGeom>
          <a:noFill/>
          <a:ln/>
        </p:spPr>
        <p:txBody>
          <a:bodyPr wrap="square" lIns="0" tIns="0" rIns="0" bIns="0" rtlCol="0" anchor="ctr"/>
          <a:lstStyle/>
          <a:p>
            <a:pPr algn="ctr" indent="0" marL="0">
              <a:buNone/>
            </a:pPr>
            <a:r>
              <a:rPr lang="en-US" sz="1200" b="1" dirty="0">
                <a:solidFill>
                  <a:srgbClr val="1F1F1F"/>
                </a:solidFill>
              </a:rPr>
              <a:t>Merge Queue</a:t>
            </a:r>
            <a:endParaRPr lang="en-US" sz="1200" dirty="0"/>
          </a:p>
        </p:txBody>
      </p:sp>
      <p:sp>
        <p:nvSpPr>
          <p:cNvPr id="20" name="Text 18"/>
          <p:cNvSpPr/>
          <p:nvPr/>
        </p:nvSpPr>
        <p:spPr>
          <a:xfrm>
            <a:off x="8437299" y="213055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21" name="Shape 19"/>
          <p:cNvSpPr/>
          <p:nvPr/>
        </p:nvSpPr>
        <p:spPr>
          <a:xfrm>
            <a:off x="8556171" y="1965960"/>
            <a:ext cx="1491778" cy="621792"/>
          </a:xfrm>
          <a:prstGeom prst="roundRect">
            <a:avLst>
              <a:gd name="adj" fmla="val 8824"/>
            </a:avLst>
          </a:prstGeom>
          <a:solidFill>
            <a:srgbClr val="EAF2F8"/>
          </a:solidFill>
          <a:ln w="12700">
            <a:solidFill>
              <a:srgbClr val="2F75B5"/>
            </a:solidFill>
            <a:prstDash val="solid"/>
          </a:ln>
        </p:spPr>
      </p:sp>
      <p:sp>
        <p:nvSpPr>
          <p:cNvPr id="22" name="Text 20"/>
          <p:cNvSpPr/>
          <p:nvPr/>
        </p:nvSpPr>
        <p:spPr>
          <a:xfrm>
            <a:off x="8611035" y="2075688"/>
            <a:ext cx="1382050" cy="365760"/>
          </a:xfrm>
          <a:prstGeom prst="rect">
            <a:avLst/>
          </a:prstGeom>
          <a:noFill/>
          <a:ln/>
        </p:spPr>
        <p:txBody>
          <a:bodyPr wrap="square" lIns="0" tIns="0" rIns="0" bIns="0" rtlCol="0" anchor="ctr"/>
          <a:lstStyle/>
          <a:p>
            <a:pPr algn="ctr" indent="0" marL="0">
              <a:buNone/>
            </a:pPr>
            <a:r>
              <a:rPr lang="en-US" sz="1200" b="1" dirty="0">
                <a:solidFill>
                  <a:srgbClr val="1F1F1F"/>
                </a:solidFill>
              </a:rPr>
              <a:t>Deploy</a:t>
            </a:r>
            <a:endParaRPr lang="en-US" sz="1200" dirty="0"/>
          </a:p>
        </p:txBody>
      </p:sp>
      <p:sp>
        <p:nvSpPr>
          <p:cNvPr id="23" name="Text 21"/>
          <p:cNvSpPr/>
          <p:nvPr/>
        </p:nvSpPr>
        <p:spPr>
          <a:xfrm>
            <a:off x="10047950" y="213055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24" name="Shape 22"/>
          <p:cNvSpPr/>
          <p:nvPr/>
        </p:nvSpPr>
        <p:spPr>
          <a:xfrm>
            <a:off x="10166822" y="1965960"/>
            <a:ext cx="1491778" cy="621792"/>
          </a:xfrm>
          <a:prstGeom prst="roundRect">
            <a:avLst>
              <a:gd name="adj" fmla="val 8824"/>
            </a:avLst>
          </a:prstGeom>
          <a:solidFill>
            <a:srgbClr val="D9EAF7"/>
          </a:solidFill>
          <a:ln w="12700">
            <a:solidFill>
              <a:srgbClr val="2F75B5"/>
            </a:solidFill>
            <a:prstDash val="solid"/>
          </a:ln>
        </p:spPr>
      </p:sp>
      <p:sp>
        <p:nvSpPr>
          <p:cNvPr id="25" name="Text 23"/>
          <p:cNvSpPr/>
          <p:nvPr/>
        </p:nvSpPr>
        <p:spPr>
          <a:xfrm>
            <a:off x="10221686" y="2075688"/>
            <a:ext cx="1382050" cy="365760"/>
          </a:xfrm>
          <a:prstGeom prst="rect">
            <a:avLst/>
          </a:prstGeom>
          <a:noFill/>
          <a:ln/>
        </p:spPr>
        <p:txBody>
          <a:bodyPr wrap="square" lIns="0" tIns="0" rIns="0" bIns="0" rtlCol="0" anchor="ctr"/>
          <a:lstStyle/>
          <a:p>
            <a:pPr algn="ctr" indent="0" marL="0">
              <a:buNone/>
            </a:pPr>
            <a:r>
              <a:rPr lang="en-US" sz="1200" b="1" dirty="0">
                <a:solidFill>
                  <a:srgbClr val="1F1F1F"/>
                </a:solidFill>
              </a:rPr>
              <a:t>Monitor / Feedback</a:t>
            </a:r>
            <a:endParaRPr lang="en-US" sz="1200" dirty="0"/>
          </a:p>
        </p:txBody>
      </p:sp>
      <p:sp>
        <p:nvSpPr>
          <p:cNvPr id="26" name="Text 24"/>
          <p:cNvSpPr/>
          <p:nvPr/>
        </p:nvSpPr>
        <p:spPr>
          <a:xfrm>
            <a:off x="914400" y="3154680"/>
            <a:ext cx="10332720" cy="1005840"/>
          </a:xfrm>
          <a:prstGeom prst="rect">
            <a:avLst/>
          </a:prstGeom>
          <a:noFill/>
          <a:ln/>
        </p:spPr>
        <p:txBody>
          <a:bodyPr wrap="square" lIns="635" tIns="635" rIns="635" bIns="635" rtlCol="0" anchor="ctr"/>
          <a:lstStyle/>
          <a:p>
            <a:pPr algn="ctr" indent="0" marL="0">
              <a:buNone/>
            </a:pPr>
            <a:r>
              <a:rPr lang="en-US" sz="1800" dirty="0">
                <a:solidFill>
                  <a:srgbClr val="1F1F1F"/>
                </a:solidFill>
              </a:rPr>
              <a:t>Evidence: GitHub engineering describes merge queue, automated builds/tests, branch protection, and scaled CI with GitHub Actions.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Real-World Application 2: Netflix Streaming</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12</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sp>
        <p:nvSpPr>
          <p:cNvPr id="6" name="Text 4"/>
          <p:cNvSpPr/>
          <p:nvPr/>
        </p:nvSpPr>
        <p:spPr>
          <a:xfrm>
            <a:off x="777240" y="1024128"/>
            <a:ext cx="10652760" cy="5074920"/>
          </a:xfrm>
          <a:prstGeom prst="rect">
            <a:avLst/>
          </a:prstGeom>
          <a:noFill/>
          <a:ln/>
        </p:spPr>
        <p:txBody>
          <a:bodyPr wrap="square" lIns="1016" tIns="1016" rIns="1016" bIns="1016" rtlCol="0" anchor="ctr">
            <a:normAutofit/>
          </a:bodyPr>
          <a:lstStyle/>
          <a:p>
            <a:pPr indent="0" marL="0">
              <a:buNone/>
            </a:pPr>
            <a:r>
              <a:rPr lang="en-US" sz="1900" dirty="0">
                <a:solidFill>
                  <a:srgbClr val="1F1F1F"/>
                </a:solidFill>
              </a:rPr>
              <a:t>Company: Netflix</a:t>
            </a:r>
            <a:endParaRPr lang="en-US" sz="1900" dirty="0"/>
          </a:p>
          <a:p>
            <a:pPr indent="0" marL="0">
              <a:buNone/>
            </a:pPr>
            <a:r>
              <a:rPr lang="en-US" sz="1900" dirty="0">
                <a:solidFill>
                  <a:srgbClr val="1F1F1F"/>
                </a:solidFill>
              </a:rPr>
              <a:t>System: Netflix streaming application and supporting services, including the personalized homepage and device playback experience.</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Netflix engineering evidence shows extensive personalization, experimentation, distributed services, and automated device/service testing. This supports an incremental, feedback-driven, reuse/integration-heavy process rather than a strict Waterfall process.</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Netflix Development Process</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13</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sp>
        <p:nvSpPr>
          <p:cNvPr id="6" name="Shape 4"/>
          <p:cNvSpPr/>
          <p:nvPr/>
        </p:nvSpPr>
        <p:spPr>
          <a:xfrm>
            <a:off x="502920" y="1965960"/>
            <a:ext cx="1491778" cy="621792"/>
          </a:xfrm>
          <a:prstGeom prst="roundRect">
            <a:avLst>
              <a:gd name="adj" fmla="val 8824"/>
            </a:avLst>
          </a:prstGeom>
          <a:solidFill>
            <a:srgbClr val="D9EAF7"/>
          </a:solidFill>
          <a:ln w="12700">
            <a:solidFill>
              <a:srgbClr val="2F75B5"/>
            </a:solidFill>
            <a:prstDash val="solid"/>
          </a:ln>
        </p:spPr>
      </p:sp>
      <p:sp>
        <p:nvSpPr>
          <p:cNvPr id="7" name="Text 5"/>
          <p:cNvSpPr/>
          <p:nvPr/>
        </p:nvSpPr>
        <p:spPr>
          <a:xfrm>
            <a:off x="557784" y="2075688"/>
            <a:ext cx="1382050" cy="365760"/>
          </a:xfrm>
          <a:prstGeom prst="rect">
            <a:avLst/>
          </a:prstGeom>
          <a:noFill/>
          <a:ln/>
        </p:spPr>
        <p:txBody>
          <a:bodyPr wrap="square" lIns="0" tIns="0" rIns="0" bIns="0" rtlCol="0" anchor="ctr"/>
          <a:lstStyle/>
          <a:p>
            <a:pPr algn="ctr" indent="0" marL="0">
              <a:buNone/>
            </a:pPr>
            <a:r>
              <a:rPr lang="en-US" sz="1200" b="1" dirty="0">
                <a:solidFill>
                  <a:srgbClr val="1F1F1F"/>
                </a:solidFill>
              </a:rPr>
              <a:t>Member Need / Data</a:t>
            </a:r>
            <a:endParaRPr lang="en-US" sz="1200" dirty="0"/>
          </a:p>
        </p:txBody>
      </p:sp>
      <p:sp>
        <p:nvSpPr>
          <p:cNvPr id="8" name="Text 6"/>
          <p:cNvSpPr/>
          <p:nvPr/>
        </p:nvSpPr>
        <p:spPr>
          <a:xfrm>
            <a:off x="1994698" y="213055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9" name="Shape 7"/>
          <p:cNvSpPr/>
          <p:nvPr/>
        </p:nvSpPr>
        <p:spPr>
          <a:xfrm>
            <a:off x="2113570" y="1965960"/>
            <a:ext cx="1491778" cy="621792"/>
          </a:xfrm>
          <a:prstGeom prst="roundRect">
            <a:avLst>
              <a:gd name="adj" fmla="val 8824"/>
            </a:avLst>
          </a:prstGeom>
          <a:solidFill>
            <a:srgbClr val="EAF2F8"/>
          </a:solidFill>
          <a:ln w="12700">
            <a:solidFill>
              <a:srgbClr val="2F75B5"/>
            </a:solidFill>
            <a:prstDash val="solid"/>
          </a:ln>
        </p:spPr>
      </p:sp>
      <p:sp>
        <p:nvSpPr>
          <p:cNvPr id="10" name="Text 8"/>
          <p:cNvSpPr/>
          <p:nvPr/>
        </p:nvSpPr>
        <p:spPr>
          <a:xfrm>
            <a:off x="2168434" y="2075688"/>
            <a:ext cx="1382050" cy="365760"/>
          </a:xfrm>
          <a:prstGeom prst="rect">
            <a:avLst/>
          </a:prstGeom>
          <a:noFill/>
          <a:ln/>
        </p:spPr>
        <p:txBody>
          <a:bodyPr wrap="square" lIns="0" tIns="0" rIns="0" bIns="0" rtlCol="0" anchor="ctr"/>
          <a:lstStyle/>
          <a:p>
            <a:pPr algn="ctr" indent="0" marL="0">
              <a:buNone/>
            </a:pPr>
            <a:r>
              <a:rPr lang="en-US" sz="1200" b="1" dirty="0">
                <a:solidFill>
                  <a:srgbClr val="1F1F1F"/>
                </a:solidFill>
              </a:rPr>
              <a:t>Requirement / Experiment</a:t>
            </a:r>
            <a:endParaRPr lang="en-US" sz="1200" dirty="0"/>
          </a:p>
        </p:txBody>
      </p:sp>
      <p:sp>
        <p:nvSpPr>
          <p:cNvPr id="11" name="Text 9"/>
          <p:cNvSpPr/>
          <p:nvPr/>
        </p:nvSpPr>
        <p:spPr>
          <a:xfrm>
            <a:off x="3605349" y="213055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12" name="Shape 10"/>
          <p:cNvSpPr/>
          <p:nvPr/>
        </p:nvSpPr>
        <p:spPr>
          <a:xfrm>
            <a:off x="3724221" y="1965960"/>
            <a:ext cx="1491778" cy="621792"/>
          </a:xfrm>
          <a:prstGeom prst="roundRect">
            <a:avLst>
              <a:gd name="adj" fmla="val 8824"/>
            </a:avLst>
          </a:prstGeom>
          <a:solidFill>
            <a:srgbClr val="D9EAF7"/>
          </a:solidFill>
          <a:ln w="12700">
            <a:solidFill>
              <a:srgbClr val="2F75B5"/>
            </a:solidFill>
            <a:prstDash val="solid"/>
          </a:ln>
        </p:spPr>
      </p:sp>
      <p:sp>
        <p:nvSpPr>
          <p:cNvPr id="13" name="Text 11"/>
          <p:cNvSpPr/>
          <p:nvPr/>
        </p:nvSpPr>
        <p:spPr>
          <a:xfrm>
            <a:off x="3779085" y="2075688"/>
            <a:ext cx="1382050" cy="365760"/>
          </a:xfrm>
          <a:prstGeom prst="rect">
            <a:avLst/>
          </a:prstGeom>
          <a:noFill/>
          <a:ln/>
        </p:spPr>
        <p:txBody>
          <a:bodyPr wrap="square" lIns="0" tIns="0" rIns="0" bIns="0" rtlCol="0" anchor="ctr"/>
          <a:lstStyle/>
          <a:p>
            <a:pPr algn="ctr" indent="0" marL="0">
              <a:buNone/>
            </a:pPr>
            <a:r>
              <a:rPr lang="en-US" sz="1200" b="1" dirty="0">
                <a:solidFill>
                  <a:srgbClr val="1F1F1F"/>
                </a:solidFill>
              </a:rPr>
              <a:t>Design</a:t>
            </a:r>
            <a:endParaRPr lang="en-US" sz="1200" dirty="0"/>
          </a:p>
        </p:txBody>
      </p:sp>
      <p:sp>
        <p:nvSpPr>
          <p:cNvPr id="14" name="Text 12"/>
          <p:cNvSpPr/>
          <p:nvPr/>
        </p:nvSpPr>
        <p:spPr>
          <a:xfrm>
            <a:off x="5215999" y="213055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15" name="Shape 13"/>
          <p:cNvSpPr/>
          <p:nvPr/>
        </p:nvSpPr>
        <p:spPr>
          <a:xfrm>
            <a:off x="5334871" y="1965960"/>
            <a:ext cx="1491778" cy="621792"/>
          </a:xfrm>
          <a:prstGeom prst="roundRect">
            <a:avLst>
              <a:gd name="adj" fmla="val 8824"/>
            </a:avLst>
          </a:prstGeom>
          <a:solidFill>
            <a:srgbClr val="EAF2F8"/>
          </a:solidFill>
          <a:ln w="12700">
            <a:solidFill>
              <a:srgbClr val="2F75B5"/>
            </a:solidFill>
            <a:prstDash val="solid"/>
          </a:ln>
        </p:spPr>
      </p:sp>
      <p:sp>
        <p:nvSpPr>
          <p:cNvPr id="16" name="Text 14"/>
          <p:cNvSpPr/>
          <p:nvPr/>
        </p:nvSpPr>
        <p:spPr>
          <a:xfrm>
            <a:off x="5389735" y="2075688"/>
            <a:ext cx="1382050" cy="365760"/>
          </a:xfrm>
          <a:prstGeom prst="rect">
            <a:avLst/>
          </a:prstGeom>
          <a:noFill/>
          <a:ln/>
        </p:spPr>
        <p:txBody>
          <a:bodyPr wrap="square" lIns="0" tIns="0" rIns="0" bIns="0" rtlCol="0" anchor="ctr"/>
          <a:lstStyle/>
          <a:p>
            <a:pPr algn="ctr" indent="0" marL="0">
              <a:buNone/>
            </a:pPr>
            <a:r>
              <a:rPr lang="en-US" sz="1200" b="1" dirty="0">
                <a:solidFill>
                  <a:srgbClr val="1F1F1F"/>
                </a:solidFill>
              </a:rPr>
              <a:t>Build</a:t>
            </a:r>
            <a:endParaRPr lang="en-US" sz="1200" dirty="0"/>
          </a:p>
        </p:txBody>
      </p:sp>
      <p:sp>
        <p:nvSpPr>
          <p:cNvPr id="17" name="Text 15"/>
          <p:cNvSpPr/>
          <p:nvPr/>
        </p:nvSpPr>
        <p:spPr>
          <a:xfrm>
            <a:off x="6826649" y="213055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18" name="Shape 16"/>
          <p:cNvSpPr/>
          <p:nvPr/>
        </p:nvSpPr>
        <p:spPr>
          <a:xfrm>
            <a:off x="6945521" y="1965960"/>
            <a:ext cx="1491778" cy="621792"/>
          </a:xfrm>
          <a:prstGeom prst="roundRect">
            <a:avLst>
              <a:gd name="adj" fmla="val 8824"/>
            </a:avLst>
          </a:prstGeom>
          <a:solidFill>
            <a:srgbClr val="D9EAF7"/>
          </a:solidFill>
          <a:ln w="12700">
            <a:solidFill>
              <a:srgbClr val="2F75B5"/>
            </a:solidFill>
            <a:prstDash val="solid"/>
          </a:ln>
        </p:spPr>
      </p:sp>
      <p:sp>
        <p:nvSpPr>
          <p:cNvPr id="19" name="Text 17"/>
          <p:cNvSpPr/>
          <p:nvPr/>
        </p:nvSpPr>
        <p:spPr>
          <a:xfrm>
            <a:off x="7000385" y="2075688"/>
            <a:ext cx="1382050" cy="365760"/>
          </a:xfrm>
          <a:prstGeom prst="rect">
            <a:avLst/>
          </a:prstGeom>
          <a:noFill/>
          <a:ln/>
        </p:spPr>
        <p:txBody>
          <a:bodyPr wrap="square" lIns="0" tIns="0" rIns="0" bIns="0" rtlCol="0" anchor="ctr"/>
          <a:lstStyle/>
          <a:p>
            <a:pPr algn="ctr" indent="0" marL="0">
              <a:buNone/>
            </a:pPr>
            <a:r>
              <a:rPr lang="en-US" sz="1200" b="1" dirty="0">
                <a:solidFill>
                  <a:srgbClr val="1F1F1F"/>
                </a:solidFill>
              </a:rPr>
              <a:t>Simulation / Test</a:t>
            </a:r>
            <a:endParaRPr lang="en-US" sz="1200" dirty="0"/>
          </a:p>
        </p:txBody>
      </p:sp>
      <p:sp>
        <p:nvSpPr>
          <p:cNvPr id="20" name="Text 18"/>
          <p:cNvSpPr/>
          <p:nvPr/>
        </p:nvSpPr>
        <p:spPr>
          <a:xfrm>
            <a:off x="8437299" y="213055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21" name="Shape 19"/>
          <p:cNvSpPr/>
          <p:nvPr/>
        </p:nvSpPr>
        <p:spPr>
          <a:xfrm>
            <a:off x="8556171" y="1965960"/>
            <a:ext cx="1491778" cy="621792"/>
          </a:xfrm>
          <a:prstGeom prst="roundRect">
            <a:avLst>
              <a:gd name="adj" fmla="val 8824"/>
            </a:avLst>
          </a:prstGeom>
          <a:solidFill>
            <a:srgbClr val="EAF2F8"/>
          </a:solidFill>
          <a:ln w="12700">
            <a:solidFill>
              <a:srgbClr val="2F75B5"/>
            </a:solidFill>
            <a:prstDash val="solid"/>
          </a:ln>
        </p:spPr>
      </p:sp>
      <p:sp>
        <p:nvSpPr>
          <p:cNvPr id="22" name="Text 20"/>
          <p:cNvSpPr/>
          <p:nvPr/>
        </p:nvSpPr>
        <p:spPr>
          <a:xfrm>
            <a:off x="8611035" y="2075688"/>
            <a:ext cx="1382050" cy="365760"/>
          </a:xfrm>
          <a:prstGeom prst="rect">
            <a:avLst/>
          </a:prstGeom>
          <a:noFill/>
          <a:ln/>
        </p:spPr>
        <p:txBody>
          <a:bodyPr wrap="square" lIns="0" tIns="0" rIns="0" bIns="0" rtlCol="0" anchor="ctr"/>
          <a:lstStyle/>
          <a:p>
            <a:pPr algn="ctr" indent="0" marL="0">
              <a:buNone/>
            </a:pPr>
            <a:r>
              <a:rPr lang="en-US" sz="1200" b="1" dirty="0">
                <a:solidFill>
                  <a:srgbClr val="1F1F1F"/>
                </a:solidFill>
              </a:rPr>
              <a:t>Evaluate / Deploy</a:t>
            </a:r>
            <a:endParaRPr lang="en-US" sz="1200" dirty="0"/>
          </a:p>
        </p:txBody>
      </p:sp>
      <p:sp>
        <p:nvSpPr>
          <p:cNvPr id="23" name="Text 21"/>
          <p:cNvSpPr/>
          <p:nvPr/>
        </p:nvSpPr>
        <p:spPr>
          <a:xfrm>
            <a:off x="10047950" y="2130552"/>
            <a:ext cx="118872" cy="228600"/>
          </a:xfrm>
          <a:prstGeom prst="rect">
            <a:avLst/>
          </a:prstGeom>
          <a:noFill/>
          <a:ln/>
        </p:spPr>
        <p:txBody>
          <a:bodyPr wrap="square" lIns="0" tIns="0" rIns="0" bIns="0" rtlCol="0" anchor="ctr"/>
          <a:lstStyle/>
          <a:p>
            <a:pPr algn="ctr" indent="0" marL="0">
              <a:buNone/>
            </a:pPr>
            <a:r>
              <a:rPr lang="en-US" sz="1600" dirty="0">
                <a:solidFill>
                  <a:srgbClr val="2F75B5"/>
                </a:solidFill>
              </a:rPr>
              <a:t>→</a:t>
            </a:r>
            <a:endParaRPr lang="en-US" sz="1600" dirty="0"/>
          </a:p>
        </p:txBody>
      </p:sp>
      <p:sp>
        <p:nvSpPr>
          <p:cNvPr id="24" name="Shape 22"/>
          <p:cNvSpPr/>
          <p:nvPr/>
        </p:nvSpPr>
        <p:spPr>
          <a:xfrm>
            <a:off x="10166822" y="1965960"/>
            <a:ext cx="1491778" cy="621792"/>
          </a:xfrm>
          <a:prstGeom prst="roundRect">
            <a:avLst>
              <a:gd name="adj" fmla="val 8824"/>
            </a:avLst>
          </a:prstGeom>
          <a:solidFill>
            <a:srgbClr val="D9EAF7"/>
          </a:solidFill>
          <a:ln w="12700">
            <a:solidFill>
              <a:srgbClr val="2F75B5"/>
            </a:solidFill>
            <a:prstDash val="solid"/>
          </a:ln>
        </p:spPr>
      </p:sp>
      <p:sp>
        <p:nvSpPr>
          <p:cNvPr id="25" name="Text 23"/>
          <p:cNvSpPr/>
          <p:nvPr/>
        </p:nvSpPr>
        <p:spPr>
          <a:xfrm>
            <a:off x="10221686" y="2075688"/>
            <a:ext cx="1382050" cy="365760"/>
          </a:xfrm>
          <a:prstGeom prst="rect">
            <a:avLst/>
          </a:prstGeom>
          <a:noFill/>
          <a:ln/>
        </p:spPr>
        <p:txBody>
          <a:bodyPr wrap="square" lIns="0" tIns="0" rIns="0" bIns="0" rtlCol="0" anchor="ctr"/>
          <a:lstStyle/>
          <a:p>
            <a:pPr algn="ctr" indent="0" marL="0">
              <a:buNone/>
            </a:pPr>
            <a:r>
              <a:rPr lang="en-US" sz="1200" b="1" dirty="0">
                <a:solidFill>
                  <a:srgbClr val="1F1F1F"/>
                </a:solidFill>
              </a:rPr>
              <a:t>Telemetry / Feedback</a:t>
            </a:r>
            <a:endParaRPr lang="en-US" sz="1200" dirty="0"/>
          </a:p>
        </p:txBody>
      </p:sp>
      <p:sp>
        <p:nvSpPr>
          <p:cNvPr id="26" name="Text 24"/>
          <p:cNvSpPr/>
          <p:nvPr/>
        </p:nvSpPr>
        <p:spPr>
          <a:xfrm>
            <a:off x="914400" y="3154680"/>
            <a:ext cx="10332720" cy="1005840"/>
          </a:xfrm>
          <a:prstGeom prst="rect">
            <a:avLst/>
          </a:prstGeom>
          <a:noFill/>
          <a:ln/>
        </p:spPr>
        <p:txBody>
          <a:bodyPr wrap="square" lIns="635" tIns="635" rIns="635" bIns="635" rtlCol="0" anchor="ctr"/>
          <a:lstStyle/>
          <a:p>
            <a:pPr algn="ctr" indent="0" marL="0">
              <a:buNone/>
            </a:pPr>
            <a:r>
              <a:rPr lang="en-US" sz="1800" dirty="0">
                <a:solidFill>
                  <a:srgbClr val="1F1F1F"/>
                </a:solidFill>
              </a:rPr>
              <a:t>Evidence: Netflix engineering describes personalized ranking and a distributed simulation platform for device/service testing.</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GitHub.com vs. Netflix</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14</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sp>
        <p:nvSpPr>
          <p:cNvPr id="6" name="Text 4"/>
          <p:cNvSpPr/>
          <p:nvPr/>
        </p:nvSpPr>
        <p:spPr>
          <a:xfrm>
            <a:off x="777240" y="1024128"/>
            <a:ext cx="10652760" cy="5074920"/>
          </a:xfrm>
          <a:prstGeom prst="rect">
            <a:avLst/>
          </a:prstGeom>
          <a:noFill/>
          <a:ln/>
        </p:spPr>
        <p:txBody>
          <a:bodyPr wrap="square" lIns="1016" tIns="1016" rIns="1016" bIns="1016" rtlCol="0" anchor="ctr">
            <a:normAutofit/>
          </a:bodyPr>
          <a:lstStyle/>
          <a:p>
            <a:pPr indent="0" marL="0">
              <a:buNone/>
            </a:pPr>
            <a:r>
              <a:rPr lang="en-US" sz="1900" dirty="0">
                <a:solidFill>
                  <a:srgbClr val="1F1F1F"/>
                </a:solidFill>
              </a:rPr>
              <a:t>GitHub.com: developer collaboration platform, rapid code changes, pull-request based workflow, large automated CI, merge queue, staged deployment.</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Netflix: streaming and personalization system, member-facing experiments, distributed services, device certification/testing, data-driven evolution.</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Both rely on automation, validation, feedback, and frequent evolution. GitHub evidence emphasizes code integration and deployment flow. Netflix evidence emphasizes experimentation, personalization, distributed-service testing, and device reliability.</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Comparison Table</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15</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11384280" cy="5257800"/>
        </p:xfrm>
        <a:graphic>
          <a:graphicData uri="http://schemas.openxmlformats.org/drawingml/2006/table">
            <a:tbl>
              <a:tblPr/>
              <a:tblGrid>
                <a:gridCol w="2194560"/>
                <a:gridCol w="4297680"/>
                <a:gridCol w="4892040"/>
              </a:tblGrid>
              <a:tr h="347472">
                <a:tc>
                  <a:txBody>
                    <a:bodyPr/>
                    <a:lstStyle/>
                    <a:p>
                      <a:pPr indent="0" marL="0">
                        <a:buNone/>
                      </a:pPr>
                      <a:r>
                        <a:rPr lang="en-US" sz="1000" dirty="0">
                          <a:solidFill>
                            <a:srgbClr val="1F1F1F"/>
                          </a:solidFill>
                        </a:rPr>
                        <a:t>Category</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GitHub.com</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Netflix Streaming</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1F1F"/>
                          </a:solidFill>
                        </a:rPr>
                        <a:t>Primary users</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Developers/organizations</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Streaming members/device partners</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1F1F"/>
                          </a:solidFill>
                        </a:rPr>
                        <a:t>Approach</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Agile/incremental + DevOps</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Incremental/experimental + integration</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1F1F"/>
                          </a:solidFill>
                        </a:rPr>
                        <a:t>Requirements</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Product/developer needs</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Member needs, behavior, product goals</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1F1F"/>
                          </a:solidFill>
                        </a:rPr>
                        <a:t>Development</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PRs, services, platform code</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Services, apps, algorithms/models</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1F1F"/>
                          </a:solidFill>
                        </a:rPr>
                        <a:t>Validation</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CI, automated tests, staged rollout</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Simulations, certification, experiments</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1F1F"/>
                          </a:solidFill>
                        </a:rPr>
                        <a:t>Deployment</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Merge queue + deployment pipeline</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Distributed service/app releases</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1F1F"/>
                          </a:solidFill>
                        </a:rPr>
                        <a:t>Evolution</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Frequent production changes</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Continuous personalization/service updates</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1F1F"/>
                          </a:solidFill>
                        </a:rPr>
                        <a:t>Feedback</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Developer/customer signals</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Member behavior, experiment results</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1F1F"/>
                          </a:solidFill>
                        </a:rPr>
                        <a:t>Main challenge</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Scale and safe merge/deploy flow</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c>
                  <a:txBody>
                    <a:bodyPr/>
                    <a:lstStyle/>
                    <a:p>
                      <a:pPr indent="0" marL="0">
                        <a:buNone/>
                      </a:pPr>
                      <a:r>
                        <a:rPr lang="en-US" sz="1000" dirty="0">
                          <a:solidFill>
                            <a:srgbClr val="1F1F1F"/>
                          </a:solidFill>
                        </a:rPr>
                        <a:t>Reliability across devices and distributed systems</a:t>
                      </a:r>
                      <a:endParaRPr lang="en-US" sz="1000" dirty="0"/>
                    </a:p>
                  </a:txBody>
                  <a:tcPr marL="45720" marR="45720" marT="45720" marB="45720">
                    <a:lnL w="12700" cap="flat" cmpd="sng" algn="ctr">
                      <a:solidFill>
                        <a:srgbClr val="B7C9D6"/>
                      </a:solidFill>
                      <a:prstDash val="solid"/>
                      <a:round/>
                      <a:headEnd type="none" w="med" len="med"/>
                      <a:tailEnd type="none" w="med" len="med"/>
                    </a:lnL>
                    <a:lnR w="12700" cap="flat" cmpd="sng" algn="ctr">
                      <a:solidFill>
                        <a:srgbClr val="B7C9D6"/>
                      </a:solidFill>
                      <a:prstDash val="solid"/>
                      <a:round/>
                      <a:headEnd type="none" w="med" len="med"/>
                      <a:tailEnd type="none" w="med" len="med"/>
                    </a:lnR>
                    <a:lnT w="12700" cap="flat" cmpd="sng" algn="ctr">
                      <a:solidFill>
                        <a:srgbClr val="B7C9D6"/>
                      </a:solidFill>
                      <a:prstDash val="solid"/>
                      <a:round/>
                      <a:headEnd type="none" w="med" len="med"/>
                      <a:tailEnd type="none" w="med" len="med"/>
                    </a:lnT>
                    <a:lnB w="12700" cap="flat" cmpd="sng" algn="ctr">
                      <a:solidFill>
                        <a:srgbClr val="B7C9D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Why Different Processes Work</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16</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sp>
        <p:nvSpPr>
          <p:cNvPr id="6" name="Text 4"/>
          <p:cNvSpPr/>
          <p:nvPr/>
        </p:nvSpPr>
        <p:spPr>
          <a:xfrm>
            <a:off x="777240" y="1024128"/>
            <a:ext cx="10652760" cy="5074920"/>
          </a:xfrm>
          <a:prstGeom prst="rect">
            <a:avLst/>
          </a:prstGeom>
          <a:noFill/>
          <a:ln/>
        </p:spPr>
        <p:txBody>
          <a:bodyPr wrap="square" lIns="1016" tIns="1016" rIns="1016" bIns="1016" rtlCol="0" anchor="ctr">
            <a:normAutofit/>
          </a:bodyPr>
          <a:lstStyle/>
          <a:p>
            <a:pPr indent="0" marL="0">
              <a:buNone/>
            </a:pPr>
            <a:r>
              <a:rPr lang="en-US" sz="1900" dirty="0">
                <a:solidFill>
                  <a:srgbClr val="1F1F1F"/>
                </a:solidFill>
              </a:rPr>
              <a:t>Two successful organizations may use different processes because their software, users, risks, architecture, release frequency, regulations, and feedback cycles differ.</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GitHub needs safe integration of many code changes. Netflix needs reliable streaming across many devices while continuously improving personalization and services.</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A large project often combines models. Plan-driven practices help with high-risk or stable areas, while agile and incremental practices support frequent change.</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What I Learned</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17</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sp>
        <p:nvSpPr>
          <p:cNvPr id="6" name="Text 4"/>
          <p:cNvSpPr/>
          <p:nvPr/>
        </p:nvSpPr>
        <p:spPr>
          <a:xfrm>
            <a:off x="777240" y="1024128"/>
            <a:ext cx="10652760" cy="5074920"/>
          </a:xfrm>
          <a:prstGeom prst="rect">
            <a:avLst/>
          </a:prstGeom>
          <a:noFill/>
          <a:ln/>
        </p:spPr>
        <p:txBody>
          <a:bodyPr wrap="square" lIns="1016" tIns="1016" rIns="1016" bIns="1016" rtlCol="0" anchor="ctr">
            <a:normAutofit/>
          </a:bodyPr>
          <a:lstStyle/>
          <a:p>
            <a:pPr indent="0" marL="0">
              <a:buNone/>
            </a:pPr>
            <a:r>
              <a:rPr lang="en-US" sz="1900" dirty="0">
                <a:solidFill>
                  <a:srgbClr val="1F1F1F"/>
                </a:solidFill>
              </a:rPr>
              <a:t>No single process fits every software project. The useful question is how a team organizes specification, development, validation, and evolution for its risks and goals.</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Waterfall gives structure when change is limited. Incremental development reduces the cost of change and gets feedback earlier. Integration/configuration speeds development through reuse. Real companies combine these ideas with automation, testing, monitoring, and continuous improvement.</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17365D"/>
          </a:solidFill>
          <a:ln w="12700">
            <a:solidFill>
              <a:srgbClr val="17365D"/>
            </a:solidFill>
            <a:prstDash val="solid"/>
          </a:ln>
        </p:spPr>
      </p:sp>
      <p:sp>
        <p:nvSpPr>
          <p:cNvPr id="3" name="Text 1"/>
          <p:cNvSpPr/>
          <p:nvPr/>
        </p:nvSpPr>
        <p:spPr>
          <a:xfrm>
            <a:off x="548640" y="128016"/>
            <a:ext cx="10789920" cy="347472"/>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Sources</a:t>
            </a:r>
            <a:endParaRPr lang="en-US" sz="2400" dirty="0"/>
          </a:p>
        </p:txBody>
      </p:sp>
      <p:sp>
        <p:nvSpPr>
          <p:cNvPr id="4" name="Text 2"/>
          <p:cNvSpPr/>
          <p:nvPr/>
        </p:nvSpPr>
        <p:spPr>
          <a:xfrm>
            <a:off x="11384280" y="164592"/>
            <a:ext cx="320040" cy="228600"/>
          </a:xfrm>
          <a:prstGeom prst="rect">
            <a:avLst/>
          </a:prstGeom>
          <a:noFill/>
          <a:ln/>
        </p:spPr>
        <p:txBody>
          <a:bodyPr wrap="square" lIns="0" tIns="0" rIns="0" bIns="0" rtlCol="0" anchor="ctr"/>
          <a:lstStyle/>
          <a:p>
            <a:pPr algn="r" indent="0" marL="0">
              <a:buNone/>
            </a:pPr>
            <a:r>
              <a:rPr lang="en-US" sz="1000" dirty="0">
                <a:solidFill>
                  <a:srgbClr val="D9EAF7"/>
                </a:solidFill>
              </a:rPr>
              <a:t>18</a:t>
            </a:r>
            <a:endParaRPr lang="en-US" sz="1000" dirty="0"/>
          </a:p>
        </p:txBody>
      </p:sp>
      <p:sp>
        <p:nvSpPr>
          <p:cNvPr id="5" name="Text 3"/>
          <p:cNvSpPr/>
          <p:nvPr/>
        </p:nvSpPr>
        <p:spPr>
          <a:xfrm>
            <a:off x="548640" y="6537960"/>
            <a:ext cx="3657600" cy="182880"/>
          </a:xfrm>
          <a:prstGeom prst="rect">
            <a:avLst/>
          </a:prstGeom>
          <a:noFill/>
          <a:ln/>
        </p:spPr>
        <p:txBody>
          <a:bodyPr wrap="square" lIns="0" tIns="0" rIns="0" bIns="0" rtlCol="0" anchor="ctr"/>
          <a:lstStyle/>
          <a:p>
            <a:pPr indent="0" marL="0">
              <a:buNone/>
            </a:pPr>
            <a:r>
              <a:rPr lang="en-US" sz="900" dirty="0">
                <a:solidFill>
                  <a:srgbClr val="666666"/>
                </a:solidFill>
              </a:rPr>
              <a:t>BLA 2 | Software Engineering I</a:t>
            </a:r>
            <a:endParaRPr lang="en-US" sz="900" dirty="0"/>
          </a:p>
        </p:txBody>
      </p:sp>
      <p:sp>
        <p:nvSpPr>
          <p:cNvPr id="6" name="Text 4"/>
          <p:cNvSpPr/>
          <p:nvPr/>
        </p:nvSpPr>
        <p:spPr>
          <a:xfrm>
            <a:off x="777240" y="1024128"/>
            <a:ext cx="10652760" cy="5074920"/>
          </a:xfrm>
          <a:prstGeom prst="rect">
            <a:avLst/>
          </a:prstGeom>
          <a:noFill/>
          <a:ln/>
        </p:spPr>
        <p:txBody>
          <a:bodyPr wrap="square" lIns="1016" tIns="1016" rIns="1016" bIns="1016" rtlCol="0" anchor="ctr">
            <a:normAutofit/>
          </a:bodyPr>
          <a:lstStyle/>
          <a:p>
            <a:pPr indent="0" marL="0">
              <a:buNone/>
            </a:pPr>
            <a:r>
              <a:rPr lang="en-US" sz="1900" dirty="0">
                <a:solidFill>
                  <a:srgbClr val="1F1F1F"/>
                </a:solidFill>
              </a:rPr>
              <a:t>GitHub Engineering: “How GitHub uses merge queue to ship hundreds of changes every day”</a:t>
            </a:r>
            <a:endParaRPr lang="en-US" sz="1900" dirty="0"/>
          </a:p>
          <a:p>
            <a:pPr indent="0" marL="0">
              <a:buNone/>
            </a:pPr>
            <a:r>
              <a:rPr lang="en-US" sz="1900" dirty="0">
                <a:solidFill>
                  <a:srgbClr val="1F1F1F"/>
                </a:solidFill>
              </a:rPr>
              <a:t>GitHub Engineering: “How GitHub uses GitHub Actions and Actions larger runners to build and test GitHub.com”</a:t>
            </a:r>
            <a:endParaRPr lang="en-US" sz="1900" dirty="0"/>
          </a:p>
          <a:p>
            <a:pPr indent="0" marL="0">
              <a:buNone/>
            </a:pPr>
            <a:r>
              <a:rPr lang="en-US" sz="1900" dirty="0">
                <a:solidFill>
                  <a:srgbClr val="1F1F1F"/>
                </a:solidFill>
              </a:rPr>
              <a:t>Netflix TechBlog: “Simone - A Distributed Simulation Service”</a:t>
            </a:r>
            <a:endParaRPr lang="en-US" sz="1900" dirty="0"/>
          </a:p>
          <a:p>
            <a:pPr indent="0" marL="0">
              <a:buNone/>
            </a:pPr>
            <a:r>
              <a:rPr lang="en-US" sz="1900" dirty="0">
                <a:solidFill>
                  <a:srgbClr val="1F1F1F"/>
                </a:solidFill>
              </a:rPr>
              <a:t>Netflix TechBlog: “Learning a Personalized Homepage”</a:t>
            </a:r>
            <a:endParaRPr lang="en-US" sz="1900" dirty="0"/>
          </a:p>
          <a:p>
            <a:pPr indent="0" marL="0">
              <a:buNone/>
            </a:pPr>
            <a:r>
              <a:rPr lang="en-US" sz="1900" dirty="0">
                <a:solidFill>
                  <a:srgbClr val="1F1F1F"/>
                </a:solidFill>
              </a:rPr>
              <a:t>
</a:t>
            </a:r>
            <a:endParaRPr lang="en-US" sz="1900" dirty="0"/>
          </a:p>
          <a:p>
            <a:pPr indent="0" marL="0">
              <a:buNone/>
            </a:pPr>
            <a:r>
              <a:rPr lang="en-US" sz="1900" dirty="0">
                <a:solidFill>
                  <a:srgbClr val="1F1F1F"/>
                </a:solidFill>
              </a:rPr>
              <a:t>Full links are included in the technical report, README, and YouTube description template.</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Concordia University Chicago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Processes in Action</dc:title>
  <dc:subject>BLA 2 Software Processes</dc:subject>
  <dc:creator>[Your Name]</dc:creator>
  <cp:lastModifiedBy>[Your Name]</cp:lastModifiedBy>
  <cp:revision>1</cp:revision>
  <dcterms:created xsi:type="dcterms:W3CDTF">2026-10-19T19:48:05Z</dcterms:created>
  <dcterms:modified xsi:type="dcterms:W3CDTF">2026-10-19T19:48:05Z</dcterms:modified>
</cp:coreProperties>
</file>